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0D3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0" y="0"/>
            <a:ext cx="0" cy="5143500"/>
          </a:xfrm>
          <a:prstGeom prst="line">
            <a:avLst/>
          </a:prstGeom>
          <a:noFill/>
          <a:ln w="5080">
            <a:solidFill>
              <a:srgbClr val="0D33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5080">
            <a:solidFill>
              <a:srgbClr val="0D33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5080">
            <a:solidFill>
              <a:srgbClr val="0D33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5080">
            <a:solidFill>
              <a:srgbClr val="0D33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5080">
            <a:solidFill>
              <a:srgbClr val="0D33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5080">
            <a:solidFill>
              <a:srgbClr val="0D33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0"/>
            <a:ext cx="0" cy="5143500"/>
          </a:xfrm>
          <a:prstGeom prst="line">
            <a:avLst/>
          </a:prstGeom>
          <a:noFill/>
          <a:ln w="5080">
            <a:solidFill>
              <a:srgbClr val="0D33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206240"/>
            <a:ext cx="9144000" cy="1005840"/>
          </a:xfrm>
          <a:prstGeom prst="rect">
            <a:avLst/>
          </a:prstGeom>
          <a:solidFill>
            <a:srgbClr val="041627"/>
          </a:solidFill>
          <a:ln w="12700">
            <a:solidFill>
              <a:srgbClr val="0416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663440"/>
            <a:ext cx="228600" cy="-120090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4543350"/>
            <a:ext cx="228600" cy="-108335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435015"/>
            <a:ext cx="228600" cy="-85975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349040"/>
            <a:ext cx="228600" cy="-55199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293840"/>
            <a:ext cx="228600" cy="-19020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4274820"/>
            <a:ext cx="228600" cy="19020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4293840"/>
            <a:ext cx="228600" cy="55199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4349040"/>
            <a:ext cx="228600" cy="85975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0" y="4435015"/>
            <a:ext cx="228600" cy="108335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4543350"/>
            <a:ext cx="228600" cy="120090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4663440"/>
            <a:ext cx="228600" cy="120090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14600" y="4783530"/>
            <a:ext cx="228600" cy="108335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4891865"/>
            <a:ext cx="228600" cy="85975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4977840"/>
            <a:ext cx="228600" cy="55199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5033040"/>
            <a:ext cx="228600" cy="19020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5052060"/>
            <a:ext cx="228600" cy="-19020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0" y="5033040"/>
            <a:ext cx="228600" cy="-55199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86200" y="4977840"/>
            <a:ext cx="228600" cy="-85975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0" y="4891865"/>
            <a:ext cx="228600" cy="-108335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43400" y="4783530"/>
            <a:ext cx="228600" cy="-120090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4663440"/>
            <a:ext cx="228600" cy="-120090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4543350"/>
            <a:ext cx="228600" cy="-108335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0" y="4435015"/>
            <a:ext cx="228600" cy="-85975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57800" y="4349040"/>
            <a:ext cx="228600" cy="-55199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0" y="4293840"/>
            <a:ext cx="228600" cy="-19020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15000" y="4274820"/>
            <a:ext cx="228600" cy="19020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4293840"/>
            <a:ext cx="228600" cy="55199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4349040"/>
            <a:ext cx="228600" cy="85975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4435015"/>
            <a:ext cx="228600" cy="108335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29400" y="4543350"/>
            <a:ext cx="228600" cy="120090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58000" y="4663440"/>
            <a:ext cx="228600" cy="120090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86600" y="4783530"/>
            <a:ext cx="228600" cy="108335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15200" y="4891865"/>
            <a:ext cx="228600" cy="85975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43800" y="4977840"/>
            <a:ext cx="228600" cy="55199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0" y="5033040"/>
            <a:ext cx="228600" cy="19020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01000" y="5052060"/>
            <a:ext cx="228600" cy="-19020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29600" y="5033040"/>
            <a:ext cx="228600" cy="-55199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58200" y="4977840"/>
            <a:ext cx="228600" cy="-85975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86800" y="4891865"/>
            <a:ext cx="228600" cy="-108335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915400" y="4783530"/>
            <a:ext cx="228600" cy="-120090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4617720"/>
            <a:ext cx="228600" cy="-96072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8600" y="4521648"/>
            <a:ext cx="228600" cy="-86668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" y="4434980"/>
            <a:ext cx="228600" cy="-68780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" y="4366200"/>
            <a:ext cx="228600" cy="-44160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14400" y="4322040"/>
            <a:ext cx="228600" cy="-15216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43000" y="4306824"/>
            <a:ext cx="228600" cy="15216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71600" y="4322040"/>
            <a:ext cx="228600" cy="44160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600200" y="4366200"/>
            <a:ext cx="228600" cy="68780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28800" y="4434980"/>
            <a:ext cx="228600" cy="86668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057400" y="4521648"/>
            <a:ext cx="228600" cy="96072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86000" y="4617720"/>
            <a:ext cx="228600" cy="96072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514600" y="4713792"/>
            <a:ext cx="228600" cy="86668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43200" y="4800460"/>
            <a:ext cx="228600" cy="68780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971800" y="4869240"/>
            <a:ext cx="228600" cy="44160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00400" y="4913400"/>
            <a:ext cx="228600" cy="15216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429000" y="4928616"/>
            <a:ext cx="228600" cy="-15216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657600" y="4913400"/>
            <a:ext cx="228600" cy="-44160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886200" y="4869240"/>
            <a:ext cx="228600" cy="-68780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114800" y="4800460"/>
            <a:ext cx="228600" cy="-86668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343400" y="4713792"/>
            <a:ext cx="228600" cy="-96072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572000" y="4617720"/>
            <a:ext cx="228600" cy="-96072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00600" y="4521648"/>
            <a:ext cx="228600" cy="-86668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029200" y="4434980"/>
            <a:ext cx="228600" cy="-68780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257800" y="4366200"/>
            <a:ext cx="228600" cy="-44160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486400" y="4322040"/>
            <a:ext cx="228600" cy="-15216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715000" y="4306824"/>
            <a:ext cx="228600" cy="15216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943600" y="4322040"/>
            <a:ext cx="228600" cy="44160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72200" y="4366200"/>
            <a:ext cx="228600" cy="68780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400800" y="4434980"/>
            <a:ext cx="228600" cy="86668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629400" y="4521648"/>
            <a:ext cx="228600" cy="96072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858000" y="4617720"/>
            <a:ext cx="228600" cy="96072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086600" y="4713792"/>
            <a:ext cx="228600" cy="86668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00" y="4800460"/>
            <a:ext cx="228600" cy="68780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543800" y="4869240"/>
            <a:ext cx="228600" cy="44160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772400" y="4913400"/>
            <a:ext cx="228600" cy="15216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001000" y="4928616"/>
            <a:ext cx="228600" cy="-15216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229600" y="4913400"/>
            <a:ext cx="228600" cy="-44160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458200" y="4869240"/>
            <a:ext cx="228600" cy="-68780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686800" y="4800460"/>
            <a:ext cx="228600" cy="-86668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915400" y="4713792"/>
            <a:ext cx="228600" cy="-96072"/>
          </a:xfrm>
          <a:prstGeom prst="line">
            <a:avLst/>
          </a:prstGeom>
          <a:noFill/>
          <a:ln w="1905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743200" y="256032"/>
            <a:ext cx="3657600" cy="274320"/>
          </a:xfrm>
          <a:prstGeom prst="roundRect">
            <a:avLst>
              <a:gd name="adj" fmla="val 40000"/>
            </a:avLst>
          </a:prstGeom>
          <a:solidFill>
            <a:srgbClr val="0F2A45"/>
          </a:solidFill>
          <a:ln w="12700">
            <a:solidFill>
              <a:srgbClr val="0F2A4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743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E0EF"/>
                </a:solidFill>
              </a:rPr>
              <a:t>PROCESAMIENTO DIGITAL DE SEÑALES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457200" y="685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300" kern="0" dirty="0">
                <a:solidFill>
                  <a:srgbClr val="FFFFFF"/>
                </a:solidFill>
                <a:effectLst>
                  <a:glow rad="127000">
                    <a:srgbClr val="00B4D8">
                      <a:alpha val="40000"/>
                    </a:srgb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Convolución</a:t>
            </a:r>
            <a:endParaRPr lang="en-US" sz="6000" dirty="0"/>
          </a:p>
        </p:txBody>
      </p:sp>
      <p:sp>
        <p:nvSpPr>
          <p:cNvPr id="94" name="Shape 92"/>
          <p:cNvSpPr/>
          <p:nvPr/>
        </p:nvSpPr>
        <p:spPr>
          <a:xfrm>
            <a:off x="2286000" y="1920240"/>
            <a:ext cx="457200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57200" y="20299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Intuición visual antes de la fórmula</a:t>
            </a:r>
            <a:endParaRPr lang="en-US" sz="2000" dirty="0"/>
          </a:p>
        </p:txBody>
      </p:sp>
      <p:sp>
        <p:nvSpPr>
          <p:cNvPr id="96" name="Text 94"/>
          <p:cNvSpPr/>
          <p:nvPr/>
        </p:nvSpPr>
        <p:spPr>
          <a:xfrm>
            <a:off x="457200" y="2468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secreto del filtro adaptado</a:t>
            </a:r>
            <a:endParaRPr lang="en-US" sz="1500" dirty="0"/>
          </a:p>
        </p:txBody>
      </p:sp>
      <p:sp>
        <p:nvSpPr>
          <p:cNvPr id="97" name="Shape 95"/>
          <p:cNvSpPr/>
          <p:nvPr/>
        </p:nvSpPr>
        <p:spPr>
          <a:xfrm>
            <a:off x="2926080" y="3063240"/>
            <a:ext cx="1188720" cy="274320"/>
          </a:xfrm>
          <a:prstGeom prst="roundRect">
            <a:avLst>
              <a:gd name="adj" fmla="val 40000"/>
            </a:avLst>
          </a:prstGeom>
          <a:solidFill>
            <a:srgbClr val="0F2A45"/>
          </a:solidFill>
          <a:ln w="12700">
            <a:solidFill>
              <a:srgbClr val="0F2A4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926080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9 slides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251960" y="3063240"/>
            <a:ext cx="2011680" cy="274320"/>
          </a:xfrm>
          <a:prstGeom prst="roundRect">
            <a:avLst>
              <a:gd name="adj" fmla="val 40000"/>
            </a:avLst>
          </a:prstGeom>
          <a:solidFill>
            <a:srgbClr val="0F2A45"/>
          </a:solidFill>
          <a:ln w="12700">
            <a:solidFill>
              <a:srgbClr val="0F2A4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25196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sin fórmulas complejas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un Sistema LTI?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8412480" cy="960120"/>
          </a:xfrm>
          <a:prstGeom prst="rect">
            <a:avLst/>
          </a:prstGeom>
          <a:solidFill>
            <a:srgbClr val="0F2A4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8412480" cy="96012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F8FF"/>
                </a:solidFill>
              </a:rPr>
              <a:t>"Si sabés cómo responde a </a:t>
            </a:r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UN SOLO impulso</a:t>
            </a:r>
            <a:pPr algn="ctr" indent="0" marL="0">
              <a:buNone/>
            </a:pPr>
            <a:r>
              <a:rPr lang="en-US" sz="1800" dirty="0">
                <a:solidFill>
                  <a:srgbClr val="F0F8FF"/>
                </a:solidFill>
              </a:rPr>
              <a:t>... sabés cómo responde a </a:t>
            </a:r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CUALQUIER señal"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993392"/>
            <a:ext cx="1737360" cy="914400"/>
          </a:xfrm>
          <a:prstGeom prst="rect">
            <a:avLst/>
          </a:prstGeom>
          <a:solidFill>
            <a:srgbClr val="0F2A45"/>
          </a:solidFill>
          <a:ln w="19050">
            <a:solidFill>
              <a:srgbClr val="90E0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993392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x[n]</a:t>
            </a:r>
            <a:endParaRPr lang="en-US" sz="17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señal de entrada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057400" y="2450592"/>
            <a:ext cx="640080" cy="0"/>
          </a:xfrm>
          <a:prstGeom prst="line">
            <a:avLst/>
          </a:prstGeom>
          <a:noFill/>
          <a:ln w="25400">
            <a:solidFill>
              <a:srgbClr val="90E0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2450592"/>
            <a:ext cx="0" cy="0"/>
          </a:xfrm>
          <a:prstGeom prst="line">
            <a:avLst/>
          </a:prstGeom>
          <a:noFill/>
          <a:ln w="12700">
            <a:solidFill>
              <a:srgbClr val="90E0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1901952"/>
            <a:ext cx="2377440" cy="1097280"/>
          </a:xfrm>
          <a:prstGeom prst="rect">
            <a:avLst/>
          </a:prstGeom>
          <a:solidFill>
            <a:srgbClr val="1E3A5F"/>
          </a:solidFill>
          <a:ln w="19050">
            <a:solidFill>
              <a:srgbClr val="90E0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190195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SISTEMA LTI</a:t>
            </a:r>
            <a:endParaRPr lang="en-US" sz="17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h[n] conocida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26080" y="28163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h[n]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2450592"/>
            <a:ext cx="640080" cy="0"/>
          </a:xfrm>
          <a:prstGeom prst="line">
            <a:avLst/>
          </a:prstGeom>
          <a:noFill/>
          <a:ln w="25400">
            <a:solidFill>
              <a:srgbClr val="90E0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0" y="1993392"/>
            <a:ext cx="1737360" cy="914400"/>
          </a:xfrm>
          <a:prstGeom prst="rect">
            <a:avLst/>
          </a:prstGeom>
          <a:solidFill>
            <a:srgbClr val="0F2A45"/>
          </a:solidFill>
          <a:ln w="19050">
            <a:solidFill>
              <a:srgbClr val="90E0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1993392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y[n]</a:t>
            </a:r>
            <a:endParaRPr lang="en-US" sz="17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señal de salida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057400" y="1737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59E0B"/>
                </a:solidFill>
              </a:rPr>
              <a:t>impulso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F59E0B"/>
                </a:solidFill>
              </a:rPr>
              <a:t>δ[n]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0" y="1737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22C55E"/>
                </a:solidFill>
              </a:rPr>
              <a:t>h[n]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200400"/>
            <a:ext cx="2670048" cy="868680"/>
          </a:xfrm>
          <a:prstGeom prst="rect">
            <a:avLst/>
          </a:prstGeom>
          <a:solidFill>
            <a:srgbClr val="0F2A45"/>
          </a:solidFill>
          <a:ln w="228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9768" y="32369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 Lineal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" y="34930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y sumar respuestas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independientemente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72968" y="3200400"/>
            <a:ext cx="2670048" cy="868680"/>
          </a:xfrm>
          <a:prstGeom prst="rect">
            <a:avLst/>
          </a:prstGeom>
          <a:solidFill>
            <a:srgbClr val="0F2A45"/>
          </a:solidFill>
          <a:ln w="2286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82696" y="32369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 Invariante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82696" y="34930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importa cuándo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llegue la señal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25896" y="3200400"/>
            <a:ext cx="2670048" cy="868680"/>
          </a:xfrm>
          <a:prstGeom prst="rect">
            <a:avLst/>
          </a:prstGeom>
          <a:solidFill>
            <a:srgbClr val="0F2A45"/>
          </a:solidFill>
          <a:ln w="2286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35624" y="32369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35624" y="34930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salida no adelanta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entrada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0416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solo nos importa que el sistema tenga una IR h[n] conocida y finita.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 AUDITIVA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Aplaudis en una sala de conciertos...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393192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10972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3560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aplauso es un impulso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8249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señal brevisima concentrada en un instante: el "test" mas simple que existe. (delta[n])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359152"/>
            <a:ext cx="393192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59152"/>
            <a:ext cx="109728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2316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sala es el sistema LTI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67004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Paredes, techo y materiales definen como el sonido rebota y decae.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346704"/>
            <a:ext cx="393192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346704"/>
            <a:ext cx="10972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1071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escuchas es h[n]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65760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firma acustica de la sala: sonido directo + reflexiones + reverberacion.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315968"/>
            <a:ext cx="3931920" cy="530352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315968"/>
            <a:ext cx="3931920" cy="53035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* </a:t>
            </a:r>
            <a:pPr algn="ctr" indent="0" marL="0">
              <a:buNone/>
            </a:pPr>
            <a:r>
              <a:rPr lang="en-US" sz="1050" b="1" dirty="0">
                <a:solidFill>
                  <a:srgbClr val="90E0EF"/>
                </a:solidFill>
              </a:rPr>
              <a:t>Conocer h[n] = conocer la sala completamente</a:t>
            </a:r>
            <a:endParaRPr lang="en-US" sz="10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658368"/>
            <a:ext cx="4572000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muestra de la entrada "lanza" una copia del eco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70432"/>
            <a:ext cx="8595360" cy="3090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389120"/>
            <a:ext cx="8595360" cy="475488"/>
          </a:xfrm>
          <a:prstGeom prst="rect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389120"/>
            <a:ext cx="8595360" cy="47548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8FF"/>
                </a:solidFill>
              </a:rPr>
              <a:t>Eso es exactamente la convolución:  </a:t>
            </a:r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y[n] = Σ x[k] · h[n − k]</a:t>
            </a:r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  — sin más misterio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8229600" cy="2194560"/>
          </a:xfrm>
          <a:prstGeom prst="rect">
            <a:avLst/>
          </a:prstGeom>
          <a:solidFill>
            <a:srgbClr val="0F2A45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658368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7589520" cy="1874520"/>
          </a:xfrm>
          <a:prstGeom prst="rect">
            <a:avLst/>
          </a:prstGeom>
          <a:noFill/>
          <a:ln/>
        </p:spPr>
        <p:txBody>
          <a:bodyPr wrap="square" lIns="3175" tIns="3175" rIns="3175" bIns="3175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8FF"/>
                </a:solidFill>
              </a:rPr>
              <a:t>La convolución no es una fórmula abstracta.
</a:t>
            </a:r>
            <a:endParaRPr lang="en-US" sz="1800" dirty="0"/>
          </a:p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</a:rPr>
              <a:t>Es literalmente:
</a:t>
            </a:r>
            <a:endParaRPr lang="en-US" sz="18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sumar todos los ecos que cada muestra genera.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0F2A4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5216" y="338328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D33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364992"/>
            <a:ext cx="199339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"sabe" cómo reaccionar a un impulso → h[n]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329184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0F2A45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9856" y="3383280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9856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D33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3364992"/>
            <a:ext cx="199339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señal se puede descomponer en impulsos escalados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329184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0F2A45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54496" y="338328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D33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3364992"/>
            <a:ext cx="199339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salida = suma de todas esas respuestas en simultáneo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2D0A5A">
              <a:alpha val="40000"/>
            </a:srgbClr>
          </a:solidFill>
          <a:ln w="6350">
            <a:solidFill>
              <a:srgbClr val="C084F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96957" y="3824882"/>
            <a:ext cx="3200400" cy="3200400"/>
          </a:xfrm>
          <a:prstGeom prst="ellipse">
            <a:avLst/>
          </a:prstGeom>
          <a:solidFill>
            <a:srgbClr val="2D0A5A">
              <a:alpha val="40000"/>
            </a:srgbClr>
          </a:solidFill>
          <a:ln w="6350">
            <a:solidFill>
              <a:srgbClr val="C084F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73226" y="3948923"/>
            <a:ext cx="3200400" cy="3200400"/>
          </a:xfrm>
          <a:prstGeom prst="ellipse">
            <a:avLst/>
          </a:prstGeom>
          <a:solidFill>
            <a:srgbClr val="2D0A5A">
              <a:alpha val="40000"/>
            </a:srgbClr>
          </a:solidFill>
          <a:ln w="6350">
            <a:solidFill>
              <a:srgbClr val="C084F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9053" y="2544080"/>
            <a:ext cx="3200400" cy="3200400"/>
          </a:xfrm>
          <a:prstGeom prst="ellipse">
            <a:avLst/>
          </a:prstGeom>
          <a:solidFill>
            <a:srgbClr val="2D0A5A">
              <a:alpha val="40000"/>
            </a:srgbClr>
          </a:solidFill>
          <a:ln w="6350">
            <a:solidFill>
              <a:srgbClr val="C084FC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256032"/>
            <a:ext cx="3108960" cy="274320"/>
          </a:xfrm>
          <a:prstGeom prst="roundRect">
            <a:avLst>
              <a:gd name="adj" fmla="val 40000"/>
            </a:avLst>
          </a:prstGeom>
          <a:solidFill>
            <a:srgbClr val="2D0A5A"/>
          </a:solidFill>
          <a:ln w="12700">
            <a:solidFill>
              <a:srgbClr val="2D0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256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</a:rPr>
              <a:t>PREGUNTA CONCEPTUAL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si convolucionás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1353312"/>
            <a:ext cx="6949440" cy="1005840"/>
          </a:xfrm>
          <a:prstGeom prst="roundRect">
            <a:avLst>
              <a:gd name="adj" fmla="val 10909"/>
            </a:avLst>
          </a:prstGeom>
          <a:solidFill>
            <a:srgbClr val="2D0A5A"/>
          </a:solidFill>
          <a:ln w="25400">
            <a:solidFill>
              <a:srgbClr val="C08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1353312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x[n]  ★  x[−n]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x[−n]</a:t>
            </a:r>
            <a:pPr algn="ctr" indent="0" marL="0">
              <a:buNone/>
            </a:pPr>
            <a:r>
              <a:rPr lang="en-US" sz="14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</a:t>
            </a:r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x[n] invertida en el tiempo</a:t>
            </a:r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como reproducir un audio al revés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44368"/>
            <a:ext cx="3840480" cy="1078992"/>
          </a:xfrm>
          <a:prstGeom prst="roundRect">
            <a:avLst>
              <a:gd name="adj" fmla="val 8475"/>
            </a:avLst>
          </a:prstGeom>
          <a:solidFill>
            <a:srgbClr val="2A2A40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44368"/>
            <a:ext cx="3840480" cy="1078992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A0C0"/>
                </a:solidFill>
              </a:rPr>
              <a:t>(A)  Opción A
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C0C0D8"/>
                </a:solidFill>
              </a:rPr>
              <a:t>Es solo un ejercicio matemático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C0C0D8"/>
                </a:solidFill>
              </a:rPr>
              <a:t>sin aplicación real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2944368"/>
            <a:ext cx="3840480" cy="1078992"/>
          </a:xfrm>
          <a:prstGeom prst="roundRect">
            <a:avLst>
              <a:gd name="adj" fmla="val 8475"/>
            </a:avLst>
          </a:prstGeom>
          <a:solidFill>
            <a:srgbClr val="2D0A5A"/>
          </a:solidFill>
          <a:ln w="25400">
            <a:solidFill>
              <a:srgbClr val="C084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944368"/>
            <a:ext cx="3840480" cy="1078992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84FC"/>
                </a:solidFill>
              </a:rPr>
              <a:t>(B)  Opción B
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Tiene un sentido físico profundo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 aplicaciones reales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3159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está en las próximas dos diapositivas →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MATEMÁTICO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x[n] ★ x[−n] = Autocorrelación R[k]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70432"/>
            <a:ext cx="5669280" cy="2331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6480" y="1170432"/>
            <a:ext cx="2788920" cy="768096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26480" y="1170432"/>
            <a:ext cx="128016" cy="76809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64224" y="1234440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en k = 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64224" y="1472184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señal se alinea perfectamente consigo misma. Máxima energía.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26480" y="2066544"/>
            <a:ext cx="2788920" cy="768096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26480" y="2066544"/>
            <a:ext cx="128016" cy="7680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64224" y="2130552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Simétrica par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64224" y="2368296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R[k] = R[−k]. Lo que ocurre a la derecha ocurre a la izquierda.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26480" y="2962656"/>
            <a:ext cx="2788920" cy="768096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2962656"/>
            <a:ext cx="128016" cy="7680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64224" y="3026664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"parecido"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64224" y="3264408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R[k] grande → la señal se parece a sí misma desplazada k muestras.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74320" y="3657600"/>
            <a:ext cx="859536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3657600"/>
            <a:ext cx="8595360" cy="658368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R[k] = Σ x[n] · x[n + k]</a:t>
            </a:r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</a:rPr>
              <a:t>   =   medir cuánto "se parece" x a sí misma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</a:rPr>
              <a:t>desplazada k posiciones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274320" y="4407408"/>
            <a:ext cx="8595360" cy="457200"/>
          </a:xfrm>
          <a:prstGeom prst="rect">
            <a:avLst/>
          </a:prstGeom>
          <a:solidFill>
            <a:srgbClr val="EFF6FF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40740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¿Tiene sentido físico? → la próxima diapositiva te lo muestra con una aplicación real.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SENTIDO FÍSICO: EL FILTRO ADAPTADO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h[n] = s[−n], el filtro extrae la señal del ruido de forma óptima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15568"/>
            <a:ext cx="5303520" cy="2971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0" y="1115568"/>
            <a:ext cx="3090672" cy="841248"/>
          </a:xfrm>
          <a:prstGeom prst="rect">
            <a:avLst/>
          </a:prstGeom>
          <a:solidFill>
            <a:srgbClr val="FFFFFF"/>
          </a:solidFill>
          <a:ln w="2286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97880" y="1225296"/>
            <a:ext cx="365760" cy="3657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225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D33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55080" y="1188720"/>
            <a:ext cx="2423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Tenés una señal conocida s[n] que buscás en ruido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806440" y="2121408"/>
            <a:ext cx="3090672" cy="841248"/>
          </a:xfrm>
          <a:prstGeom prst="rect">
            <a:avLst/>
          </a:prstGeom>
          <a:solidFill>
            <a:srgbClr val="FFFFFF"/>
          </a:solidFill>
          <a:ln w="2286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97880" y="2231136"/>
            <a:ext cx="365760" cy="3657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97880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D33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355080" y="2194560"/>
            <a:ext cx="2423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filtro óptimo es la versión invertida: h[n] = s[−n]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06440" y="3127248"/>
            <a:ext cx="3090672" cy="841248"/>
          </a:xfrm>
          <a:prstGeom prst="rect">
            <a:avLst/>
          </a:prstGeom>
          <a:solidFill>
            <a:srgbClr val="FFFFFF"/>
          </a:solidFill>
          <a:ln w="228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897880" y="3236976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97880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D33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355080" y="3200400"/>
            <a:ext cx="2423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salida y[n] = s[n] ★ s[−n] = R[k]: ¡pico exacto al llegar!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806440" y="4078224"/>
            <a:ext cx="3090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Aplicaciones reales: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06440" y="4315968"/>
            <a:ext cx="960120" cy="301752"/>
          </a:xfrm>
          <a:prstGeom prst="roundRect">
            <a:avLst>
              <a:gd name="adj" fmla="val 36364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06440" y="4315968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E0EF"/>
                </a:solidFill>
              </a:rPr>
              <a:t>RADAR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858000" y="4315968"/>
            <a:ext cx="960120" cy="301752"/>
          </a:xfrm>
          <a:prstGeom prst="roundRect">
            <a:avLst>
              <a:gd name="adj" fmla="val 36364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0" y="4315968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E0EF"/>
                </a:solidFill>
              </a:rPr>
              <a:t>SONAR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909560" y="4315968"/>
            <a:ext cx="960120" cy="301752"/>
          </a:xfrm>
          <a:prstGeom prst="roundRect">
            <a:avLst>
              <a:gd name="adj" fmla="val 36364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09560" y="4315968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E0EF"/>
                </a:solidFill>
              </a:rPr>
              <a:t>GPS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806440" y="4681728"/>
            <a:ext cx="960120" cy="301752"/>
          </a:xfrm>
          <a:prstGeom prst="roundRect">
            <a:avLst>
              <a:gd name="adj" fmla="val 36364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4681728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E0EF"/>
                </a:solidFill>
              </a:rPr>
              <a:t>MRI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858000" y="4681728"/>
            <a:ext cx="960120" cy="301752"/>
          </a:xfrm>
          <a:prstGeom prst="roundRect">
            <a:avLst>
              <a:gd name="adj" fmla="val 36364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0" y="4681728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E0EF"/>
                </a:solidFill>
              </a:rPr>
              <a:t>Wi-Fi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909560" y="4681728"/>
            <a:ext cx="960120" cy="301752"/>
          </a:xfrm>
          <a:prstGeom prst="roundRect">
            <a:avLst>
              <a:gd name="adj" fmla="val 36364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09560" y="4681728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E0EF"/>
                </a:solidFill>
              </a:rPr>
              <a:t>LIGO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caras de la misma idea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0" y="786384"/>
            <a:ext cx="4572000" cy="0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3931920" cy="3291840"/>
          </a:xfrm>
          <a:prstGeom prst="rect">
            <a:avLst/>
          </a:prstGeom>
          <a:solidFill>
            <a:srgbClr val="0F2A45"/>
          </a:solidFill>
          <a:ln w="228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78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LTI + Superposición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Convolución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muestra "lanza" una copia de h[n]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500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salida es la suma de todos los ecos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82549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Filtrado, reverberación, ecualización...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960120"/>
            <a:ext cx="3931920" cy="3291840"/>
          </a:xfrm>
          <a:prstGeom prst="rect">
            <a:avLst/>
          </a:prstGeom>
          <a:solidFill>
            <a:srgbClr val="0F2A45"/>
          </a:solidFill>
          <a:ln w="22860">
            <a:solidFill>
              <a:srgbClr val="C08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078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x[n] ★ x[−n]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14447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Filtro Adaptado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18745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autocorrelación tiene pico en k =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23500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h[n] = s[−n] es el detector óptimo en ruido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282549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RADAR, SONAR, GPS, MRI, Wi-Fi...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51960" y="2286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vs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0040" y="4407408"/>
            <a:ext cx="8503920" cy="438912"/>
          </a:xfrm>
          <a:prstGeom prst="rect">
            <a:avLst/>
          </a:prstGeom>
          <a:solidFill>
            <a:srgbClr val="04162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407408"/>
            <a:ext cx="8503920" cy="43891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"La convolución no es una operación — </a:t>
            </a:r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es una máquina de reconocimiento."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Convolución: Intuición y Filtro Adaptado</dc:title>
  <dc:subject>PptxGenJS Presentation</dc:subject>
  <dc:creator>DSP Course</dc:creator>
  <cp:lastModifiedBy>DSP Course</cp:lastModifiedBy>
  <cp:revision>1</cp:revision>
  <dcterms:created xsi:type="dcterms:W3CDTF">2026-03-16T20:11:40Z</dcterms:created>
  <dcterms:modified xsi:type="dcterms:W3CDTF">2026-03-16T20:11:40Z</dcterms:modified>
</cp:coreProperties>
</file>